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SIDONPAY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268668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Week </a:t>
            </a:r>
            <a:r>
              <a:rPr lang="en-US"/>
              <a:t>8</a:t>
            </a:r>
            <a:r>
              <a:t> Business Intelligence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140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/>
            </a:pPr>
            <a:r>
              <a:t>Transaction Behaviour • Customer Segmentation • Operations • Fraud Risk</a:t>
            </a:r>
          </a:p>
          <a:p>
            <a:pPr>
              <a:spcAft>
                <a:spcPts val="1000"/>
              </a:spcAft>
              <a:defRPr sz="2300"/>
            </a:pPr>
            <a:r>
              <a:t>Prepared by: </a:t>
            </a:r>
            <a:r>
              <a:rPr lang="en-US"/>
              <a:t>Mary Theophilus</a:t>
            </a:r>
            <a:r>
              <a:t> | Team Ace</a:t>
            </a:r>
          </a:p>
          <a:p>
            <a:pPr>
              <a:spcAft>
                <a:spcPts val="1000"/>
              </a:spcAft>
              <a:defRPr sz="2300"/>
            </a:pPr>
            <a:r>
              <a:t>Tools: Python +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From raw transactions to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 quality checks → transaction analysis → customer features → behavioural segmentation → fraud diagnostics → operational trends → Power BI → recommendations.</a:t>
            </a:r>
          </a:p>
          <a:p>
            <a:pPr>
              <a:spcAft>
                <a:spcPts val="1000"/>
              </a:spcAft>
              <a:defRPr sz="1800"/>
            </a:pPr>
            <a:r>
              <a:t>No missing values were found and 0 duplicate rows were found in the Python checks.</a:t>
            </a:r>
          </a:p>
          <a:p>
            <a:pPr>
              <a:spcAft>
                <a:spcPts val="1000"/>
              </a:spcAft>
              <a:defRPr sz="1800"/>
            </a:pPr>
            <a:r>
              <a:t>Segmentation uses transactional characteristics rather than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the data means for SIDONPAY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6.36M</a:t>
            </a:r>
          </a:p>
          <a:p>
            <a:pPr algn="ctr">
              <a:defRPr sz="1000"/>
            </a:pPr>
            <a:r>
              <a:t>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9846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1.14T</a:t>
            </a:r>
          </a:p>
          <a:p>
            <a:pPr algn="ctr">
              <a:defRPr sz="1000"/>
            </a:pPr>
            <a:r>
              <a:t>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6772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0.13%</a:t>
            </a:r>
          </a:p>
          <a:p>
            <a:pPr algn="ctr">
              <a:defRPr sz="1000"/>
            </a:pPr>
            <a:r>
              <a:t>Fraud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8,213</a:t>
            </a:r>
          </a:p>
          <a:p>
            <a:pPr algn="ctr">
              <a:defRPr sz="1000"/>
            </a:pPr>
            <a:r>
              <a:t>Fraud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494020" cy="3600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t>CASH_OUT is the most frequent transaction type.</a:t>
            </a:r>
          </a:p>
          <a:p>
            <a:pPr>
              <a:spcAft>
                <a:spcPts val="1000"/>
              </a:spcAft>
              <a:defRPr sz="1800"/>
            </a:pPr>
            <a:r>
              <a:t>TRANSFER has the highest total and average transaction value.</a:t>
            </a:r>
          </a:p>
          <a:p>
            <a:pPr>
              <a:spcAft>
                <a:spcPts val="1000"/>
              </a:spcAft>
              <a:defRPr sz="1800"/>
            </a:pPr>
            <a:r>
              <a:t>Fraud is concentrated in CASH_OUT and TRANSFER.</a:t>
            </a:r>
          </a:p>
          <a:p>
            <a:pPr>
              <a:spcAft>
                <a:spcPts val="1000"/>
              </a:spcAft>
              <a:defRPr sz="1800"/>
            </a:pPr>
            <a:r>
              <a:t>Existing flagging detects only 0.1948% of observed fraud.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328410" y="2719705"/>
            <a:ext cx="5357495" cy="3633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0" name="Picture 9" descr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015" y="2743200"/>
            <a:ext cx="5342890" cy="3261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Transaction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Volume and value tell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CASH_OUT drives transaction volume and therefore operational workload.</a:t>
            </a:r>
          </a:p>
          <a:p>
            <a:pPr>
              <a:spcAft>
                <a:spcPts val="1000"/>
              </a:spcAft>
              <a:defRPr sz="1800"/>
            </a:pPr>
            <a:r>
              <a:t>TRANSFER drives transaction value and average transaction size.</a:t>
            </a:r>
          </a:p>
          <a:p>
            <a:pPr>
              <a:spcAft>
                <a:spcPts val="1000"/>
              </a:spcAft>
              <a:defRPr sz="1800"/>
            </a:pPr>
            <a:r>
              <a:t>Transaction activity varies over time; peak analysis supports capacity and monitoring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Behaviour &amp;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Four behavioural segments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055" y="2581275"/>
            <a:ext cx="5287645" cy="3307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t>Segment 0: 94.87% of customers; average frequency 1.0 → activation opportunity.</a:t>
            </a:r>
          </a:p>
          <a:p>
            <a:pPr>
              <a:spcAft>
                <a:spcPts val="1000"/>
              </a:spcAft>
              <a:defRPr sz="1800"/>
            </a:pPr>
            <a:r>
              <a:t>Segment 1: highest average frequency at 2.0 → retention opportunity.</a:t>
            </a:r>
          </a:p>
          <a:p>
            <a:pPr>
              <a:spcAft>
                <a:spcPts val="1000"/>
              </a:spcAft>
              <a:defRPr sz="1800"/>
            </a:pPr>
            <a:r>
              <a:t>Segment 2: average transaction amount 11.31M → high-value monitoring opportunity.</a:t>
            </a:r>
          </a:p>
          <a:p>
            <a:pPr>
              <a:spcAft>
                <a:spcPts val="1000"/>
              </a:spcAft>
              <a:defRPr sz="1800"/>
            </a:pPr>
            <a:r>
              <a:t>Segment 3: average balance 11.72M → balance-management and engagement opportunity.</a:t>
            </a:r>
          </a:p>
        </p:txBody>
      </p:sp>
      <p:pic>
        <p:nvPicPr>
          <p:cNvPr id="6" name="Picture 5" descr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656205"/>
            <a:ext cx="5865495" cy="33039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lang="en-US"/>
              <a:t>94.87%</a:t>
            </a:r>
            <a:endParaRPr lang="en-US"/>
          </a:p>
          <a:p>
            <a:pPr algn="ctr">
              <a:defRPr sz="1000"/>
            </a:pPr>
            <a:r>
              <a:rPr lang="en-US"/>
              <a:t>Average Frequency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252470" y="134620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lang="en-US"/>
              <a:t>2.0</a:t>
            </a:r>
            <a:endParaRPr lang="en-US"/>
          </a:p>
          <a:p>
            <a:pPr algn="ctr">
              <a:defRPr sz="1000"/>
            </a:pPr>
            <a:r>
              <a:rPr lang="en-US"/>
              <a:t>Highest Average Frequency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760460" y="139954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lang="en-US"/>
              <a:t>11.72</a:t>
            </a:r>
            <a:r>
              <a:t>M</a:t>
            </a:r>
          </a:p>
          <a:p>
            <a:pPr algn="ctr">
              <a:defRPr sz="1000"/>
            </a:pPr>
            <a:r>
              <a:rPr lang="en-US"/>
              <a:t>Average  Customer Balance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999480" y="1382395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lang="en-US"/>
              <a:t>11.31</a:t>
            </a:r>
            <a:r>
              <a:t>M</a:t>
            </a:r>
          </a:p>
          <a:p>
            <a:pPr algn="ctr">
              <a:defRPr sz="1000"/>
            </a:pPr>
            <a:r>
              <a:rPr lang="en-US"/>
              <a:t>Average Transaction Amount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402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Fraud Detection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The largest control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16</a:t>
            </a:r>
          </a:p>
          <a:p>
            <a:pPr algn="ctr">
              <a:defRPr sz="1000"/>
            </a:pPr>
            <a:r>
              <a:t>True Positives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9846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8,197</a:t>
            </a:r>
          </a:p>
          <a:p>
            <a:pPr algn="ctr">
              <a:defRPr sz="1000"/>
            </a:pPr>
            <a:r>
              <a:t>False Negatives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6772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0.1948%</a:t>
            </a:r>
          </a:p>
          <a:p>
            <a:pPr algn="ctr">
              <a:defRPr sz="1000"/>
            </a:pPr>
            <a:r>
              <a:t>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325880"/>
            <a:ext cx="2672334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99.8052%</a:t>
            </a:r>
          </a:p>
          <a:p>
            <a:pPr algn="ctr">
              <a:defRPr sz="1000"/>
            </a:pPr>
            <a:r>
              <a:t>Missed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222240" cy="3409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700"/>
            </a:pPr>
            <a:r>
              <a:t>True positives: 16 | False negatives: 8,197.</a:t>
            </a:r>
          </a:p>
          <a:p>
            <a:pPr>
              <a:spcAft>
                <a:spcPts val="1000"/>
              </a:spcAft>
              <a:defRPr sz="1700"/>
            </a:pPr>
            <a:r>
              <a:t>Recall/detection rate: 0.1948%.</a:t>
            </a:r>
          </a:p>
          <a:p>
            <a:pPr>
              <a:spcAft>
                <a:spcPts val="1000"/>
              </a:spcAft>
              <a:defRPr sz="1700"/>
            </a:pPr>
            <a:r>
              <a:t>Missed fraud rate: 99.8052%.</a:t>
            </a:r>
          </a:p>
          <a:p>
            <a:pPr>
              <a:spcAft>
                <a:spcPts val="1000"/>
              </a:spcAft>
              <a:defRPr sz="1700"/>
            </a:pPr>
            <a:r>
              <a:t>Precision: 100%; false-positive rate: 0%.</a:t>
            </a:r>
          </a:p>
          <a:p>
            <a:pPr>
              <a:spcAft>
                <a:spcPts val="1000"/>
              </a:spcAft>
              <a:defRPr sz="1700"/>
            </a:pPr>
            <a:r>
              <a:t>Conclusion: the current flagging mechanism cannot be the standalone fraud-control approach.</a:t>
            </a:r>
          </a:p>
        </p:txBody>
      </p:sp>
      <p:pic>
        <p:nvPicPr>
          <p:cNvPr id="9" name="Picture 8" descr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2743200"/>
            <a:ext cx="583311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Operations &amp;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Preparing SIDONPAY for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8085" y="1508760"/>
            <a:ext cx="5536565" cy="2693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t>Monitor transaction volume by hour and over time.</a:t>
            </a:r>
          </a:p>
          <a:p>
            <a:pPr>
              <a:spcAft>
                <a:spcPts val="1000"/>
              </a:spcAft>
              <a:defRPr sz="1800"/>
            </a:pPr>
            <a:r>
              <a:t>Plan processing capacity around high-volume CASH_OUT activity.</a:t>
            </a:r>
          </a:p>
          <a:p>
            <a:pPr>
              <a:spcAft>
                <a:spcPts val="1000"/>
              </a:spcAft>
              <a:defRPr sz="1800"/>
            </a:pPr>
            <a:r>
              <a:t>Separate workload planning from financial-value planning because volume and value tell different stories.</a:t>
            </a:r>
          </a:p>
          <a:p>
            <a:pPr>
              <a:spcAft>
                <a:spcPts val="1000"/>
              </a:spcAft>
              <a:defRPr sz="1800"/>
            </a:pPr>
            <a:r>
              <a:t>Align monitoring and support resources with peak activity.</a:t>
            </a:r>
          </a:p>
        </p:txBody>
      </p:sp>
      <p:pic>
        <p:nvPicPr>
          <p:cNvPr id="5" name="Picture 4" descr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9395"/>
            <a:ext cx="5437505" cy="3084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Actions before SIDONPAY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Risk: prioritize TRANSFER/CASH_OUT and add behavioural + sequence signals.</a:t>
            </a:r>
          </a:p>
          <a:p>
            <a:pPr>
              <a:spcAft>
                <a:spcPts val="1000"/>
              </a:spcAft>
              <a:defRPr sz="1800"/>
            </a:pPr>
            <a:r>
              <a:t>Product: optimize high-volume cash-out and high-value transfer journeys.</a:t>
            </a:r>
          </a:p>
          <a:p>
            <a:pPr>
              <a:spcAft>
                <a:spcPts val="1000"/>
              </a:spcAft>
              <a:defRPr sz="1800"/>
            </a:pPr>
            <a:r>
              <a:t>Marketing: activate low-activity customers and retain engaged users.</a:t>
            </a:r>
          </a:p>
          <a:p>
            <a:pPr>
              <a:spcAft>
                <a:spcPts val="1000"/>
              </a:spcAft>
              <a:defRPr sz="1800"/>
            </a:pPr>
            <a:r>
              <a:t>Operations: plan capacity around transaction peaks.</a:t>
            </a:r>
          </a:p>
          <a:p>
            <a:pPr>
              <a:spcAft>
                <a:spcPts val="1000"/>
              </a:spcAft>
              <a:defRPr sz="1800"/>
            </a:pPr>
            <a:r>
              <a:t>Data/Engineering: continuously monitor detection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Stakeholder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513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Evidence-led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Executive Management → risk investment and launch readiness.</a:t>
            </a:r>
          </a:p>
          <a:p>
            <a:pPr>
              <a:spcAft>
                <a:spcPts val="1000"/>
              </a:spcAft>
              <a:defRPr sz="1800"/>
            </a:pPr>
            <a:r>
              <a:t>Product → transaction experience and security controls.</a:t>
            </a:r>
          </a:p>
          <a:p>
            <a:pPr>
              <a:spcAft>
                <a:spcPts val="1000"/>
              </a:spcAft>
              <a:defRPr sz="1800"/>
            </a:pPr>
            <a:r>
              <a:t>Marketing → behavioural activation and retention.</a:t>
            </a:r>
          </a:p>
          <a:p>
            <a:pPr>
              <a:spcAft>
                <a:spcPts val="1000"/>
              </a:spcAft>
              <a:defRPr sz="1800"/>
            </a:pPr>
            <a:r>
              <a:t>Risk → multi-factor monitoring and graduated controls.</a:t>
            </a:r>
          </a:p>
          <a:p>
            <a:pPr>
              <a:spcAft>
                <a:spcPts val="1000"/>
              </a:spcAft>
              <a:defRPr sz="1800"/>
            </a:pPr>
            <a:r>
              <a:t>Operations → capacity planning.</a:t>
            </a:r>
          </a:p>
          <a:p>
            <a:pPr>
              <a:spcAft>
                <a:spcPts val="1000"/>
              </a:spcAft>
              <a:defRPr sz="1800"/>
            </a:pPr>
            <a:r>
              <a:t>Data/Engineering → behavioural and sequence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845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393" y="1325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SIDONPAY should take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3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Large transaction environment with distinct volume, value and risk patterns.</a:t>
            </a:r>
          </a:p>
          <a:p>
            <a:pPr>
              <a:spcAft>
                <a:spcPts val="1000"/>
              </a:spcAft>
              <a:defRPr sz="1800"/>
            </a:pPr>
            <a:r>
              <a:t>Customer segmentation reveals activation, retention and high-value opportunities.</a:t>
            </a:r>
          </a:p>
          <a:p>
            <a:pPr>
              <a:spcAft>
                <a:spcPts val="1000"/>
              </a:spcAft>
              <a:defRPr sz="1800"/>
            </a:pPr>
            <a:r>
              <a:t>TRANSFER and CASH_OUT should shape fraud-monitoring priorities.</a:t>
            </a:r>
          </a:p>
          <a:p>
            <a:pPr>
              <a:spcAft>
                <a:spcPts val="1000"/>
              </a:spcAft>
              <a:defRPr sz="1800"/>
            </a:pPr>
            <a:r>
              <a:t>0.1948% recall demonstrates the need for broader risk monitoring.</a:t>
            </a:r>
          </a:p>
          <a:p>
            <a:pPr>
              <a:spcAft>
                <a:spcPts val="1000"/>
              </a:spcAft>
              <a:defRPr sz="1800"/>
            </a:pPr>
            <a:r>
              <a:t>Recommended direction: behavioural intelligence + risk-based controls + operational readiness.</a:t>
            </a:r>
          </a:p>
          <a:p>
            <a:pPr>
              <a:spcAft>
                <a:spcPts val="1000"/>
              </a:spcAft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3492</Words>
  <Application>WPS Presentation</Application>
  <PresentationFormat>On-screen Show (4:3)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DELL</cp:lastModifiedBy>
  <cp:revision>3</cp:revision>
  <dcterms:created xsi:type="dcterms:W3CDTF">2013-01-27T09:14:00Z</dcterms:created>
  <dcterms:modified xsi:type="dcterms:W3CDTF">2026-09-10T10:54:55Z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95739E0A1E334F0AB5F97374540F7626_13</vt:lpwstr>
  </property>
</Properties>
</file>